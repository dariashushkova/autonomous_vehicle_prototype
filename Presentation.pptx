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87" r:id="rId5"/>
    <p:sldId id="304" r:id="rId6"/>
    <p:sldId id="307" r:id="rId7"/>
    <p:sldId id="303" r:id="rId8"/>
    <p:sldId id="305" r:id="rId9"/>
    <p:sldId id="306" r:id="rId10"/>
    <p:sldId id="291" r:id="rId11"/>
    <p:sldId id="302" r:id="rId12"/>
    <p:sldId id="288" r:id="rId13"/>
    <p:sldId id="290" r:id="rId14"/>
    <p:sldId id="289" r:id="rId15"/>
    <p:sldId id="296" r:id="rId16"/>
    <p:sldId id="297" r:id="rId17"/>
    <p:sldId id="293" r:id="rId18"/>
    <p:sldId id="294" r:id="rId19"/>
    <p:sldId id="300" r:id="rId20"/>
    <p:sldId id="301" r:id="rId21"/>
    <p:sldId id="295" r:id="rId22"/>
    <p:sldId id="28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59"/>
  </p:normalViewPr>
  <p:slideViewPr>
    <p:cSldViewPr snapToGrid="0" snapToObjects="1">
      <p:cViewPr>
        <p:scale>
          <a:sx n="103" d="100"/>
          <a:sy n="103" d="100"/>
        </p:scale>
        <p:origin x="46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2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95000">
              <a:schemeClr val="accent1">
                <a:lumMod val="25000"/>
                <a:lumOff val="75000"/>
              </a:scheme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475" y="31202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Systems</a:t>
            </a:r>
            <a:r>
              <a:rPr lang="en-GB" dirty="0"/>
              <a:t> </a:t>
            </a:r>
            <a:r>
              <a:rPr lang="en-GB" b="1" dirty="0"/>
              <a:t>Engineering</a:t>
            </a:r>
            <a:r>
              <a:rPr lang="en-GB" dirty="0"/>
              <a:t> </a:t>
            </a:r>
            <a:r>
              <a:rPr lang="en-GB" b="1" dirty="0"/>
              <a:t>&amp;</a:t>
            </a:r>
            <a:r>
              <a:rPr lang="en-GB" dirty="0"/>
              <a:t> </a:t>
            </a:r>
            <a:r>
              <a:rPr lang="en-GB" b="1" dirty="0"/>
              <a:t>Prototyping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F3B7A5-2D8A-75D7-38F9-D1025570E6D5}"/>
              </a:ext>
            </a:extLst>
          </p:cNvPr>
          <p:cNvSpPr txBox="1"/>
          <p:nvPr/>
        </p:nvSpPr>
        <p:spPr>
          <a:xfrm>
            <a:off x="2532886" y="632857"/>
            <a:ext cx="4072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Presented by: </a:t>
            </a:r>
          </a:p>
          <a:p>
            <a:pPr algn="ctr"/>
            <a:r>
              <a:rPr lang="en-GB" dirty="0"/>
              <a:t>Amer Mohamed Ahmed Mohamed Ali </a:t>
            </a:r>
          </a:p>
          <a:p>
            <a:pPr algn="ctr"/>
            <a:r>
              <a:rPr lang="en-GB" dirty="0"/>
              <a:t>Badhan Sadim Rahman </a:t>
            </a:r>
          </a:p>
          <a:p>
            <a:pPr algn="ctr"/>
            <a:r>
              <a:rPr lang="en-GB" dirty="0"/>
              <a:t>Shushkova Daria </a:t>
            </a:r>
          </a:p>
          <a:p>
            <a:pPr algn="ctr"/>
            <a:r>
              <a:rPr lang="en-GB" dirty="0"/>
              <a:t>Sysoev Andrey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3EDAC-7DC2-EA3C-1968-5A1FD483C2B8}"/>
              </a:ext>
            </a:extLst>
          </p:cNvPr>
          <p:cNvSpPr txBox="1"/>
          <p:nvPr/>
        </p:nvSpPr>
        <p:spPr>
          <a:xfrm>
            <a:off x="4407405" y="6416359"/>
            <a:ext cx="323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1</a:t>
            </a:r>
            <a:endParaRPr lang="en-DE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2E14E2-0171-A899-C741-2FCC5A6CDC79}"/>
              </a:ext>
            </a:extLst>
          </p:cNvPr>
          <p:cNvSpPr/>
          <p:nvPr/>
        </p:nvSpPr>
        <p:spPr>
          <a:xfrm>
            <a:off x="4572000" y="1517766"/>
            <a:ext cx="3862841" cy="37877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DB7287-7D9E-E498-7919-49B7247B5FA9}"/>
              </a:ext>
            </a:extLst>
          </p:cNvPr>
          <p:cNvSpPr/>
          <p:nvPr/>
        </p:nvSpPr>
        <p:spPr>
          <a:xfrm>
            <a:off x="382588" y="1535114"/>
            <a:ext cx="4114800" cy="27647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88" y="392113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Objective &amp; </a:t>
            </a:r>
            <a:r>
              <a:rPr dirty="0"/>
              <a:t>Hardware Components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E5038-5215-D897-6F98-B824C5C27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Objective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E138DE-4598-8C69-C00F-877AEACC8D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an </a:t>
            </a:r>
            <a:r>
              <a:rPr lang="de-DE" dirty="0" err="1"/>
              <a:t>autonomous</a:t>
            </a:r>
            <a:r>
              <a:rPr lang="de-DE" dirty="0"/>
              <a:t>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:</a:t>
            </a:r>
          </a:p>
          <a:p>
            <a:r>
              <a:rPr lang="de-DE" dirty="0" err="1"/>
              <a:t>Follows</a:t>
            </a:r>
            <a:r>
              <a:rPr lang="de-DE" dirty="0"/>
              <a:t> a </a:t>
            </a:r>
            <a:r>
              <a:rPr lang="de-DE" dirty="0" err="1"/>
              <a:t>line</a:t>
            </a:r>
            <a:r>
              <a:rPr lang="de-DE" dirty="0"/>
              <a:t> (</a:t>
            </a:r>
            <a:r>
              <a:rPr lang="de-DE" dirty="0" err="1"/>
              <a:t>path</a:t>
            </a:r>
            <a:r>
              <a:rPr lang="de-DE" dirty="0"/>
              <a:t>)</a:t>
            </a:r>
          </a:p>
          <a:p>
            <a:r>
              <a:rPr lang="de-DE" dirty="0" err="1"/>
              <a:t>Detects</a:t>
            </a:r>
            <a:r>
              <a:rPr lang="de-DE" dirty="0"/>
              <a:t> and </a:t>
            </a:r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obstacles</a:t>
            </a:r>
            <a:r>
              <a:rPr lang="de-DE" dirty="0"/>
              <a:t> in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path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FD6838-4B2D-4804-0D02-1D6334055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4231" y="1535113"/>
            <a:ext cx="4041775" cy="639762"/>
          </a:xfrm>
        </p:spPr>
        <p:txBody>
          <a:bodyPr/>
          <a:lstStyle/>
          <a:p>
            <a:r>
              <a:rPr lang="de-DE" dirty="0"/>
              <a:t>Components: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7B18E8-5F6A-545B-078B-9CE13D4D94D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de-DE" dirty="0"/>
              <a:t>IR Sensors</a:t>
            </a:r>
          </a:p>
          <a:p>
            <a:r>
              <a:rPr lang="de-DE" dirty="0" err="1"/>
              <a:t>Ultrasonic</a:t>
            </a:r>
            <a:r>
              <a:rPr lang="de-DE" dirty="0"/>
              <a:t> Sensors</a:t>
            </a:r>
          </a:p>
          <a:p>
            <a:r>
              <a:rPr lang="de-DE" dirty="0"/>
              <a:t>DC Motors</a:t>
            </a:r>
          </a:p>
          <a:p>
            <a:r>
              <a:rPr lang="de-DE" dirty="0"/>
              <a:t>Arduino</a:t>
            </a:r>
          </a:p>
          <a:p>
            <a:r>
              <a:rPr lang="de-DE" dirty="0"/>
              <a:t>Battery</a:t>
            </a:r>
          </a:p>
          <a:p>
            <a:r>
              <a:rPr lang="de-DE" dirty="0"/>
              <a:t>Motor Driver</a:t>
            </a:r>
          </a:p>
          <a:p>
            <a:pPr marL="0" indent="0">
              <a:buNone/>
            </a:pPr>
            <a:endParaRPr lang="en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500"/>
              </a:spcAft>
              <a:buNone/>
              <a:defRPr sz="1800">
                <a:latin typeface="Calibri"/>
              </a:defRPr>
            </a:pPr>
            <a:r>
              <a:rPr lang="en-GB" b="1"/>
              <a:t>1. Solving Real-World Problems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800">
                <a:latin typeface="Calibri"/>
              </a:defRPr>
            </a:pPr>
            <a:r>
              <a:rPr lang="en-GB"/>
              <a:t>Simulating autonomous behaviours like line following and obstacle avoidance.</a:t>
            </a:r>
          </a:p>
          <a:p>
            <a:pPr>
              <a:spcAft>
                <a:spcPts val="500"/>
              </a:spcAft>
              <a:defRPr sz="1800">
                <a:latin typeface="Calibri"/>
              </a:defRPr>
            </a:pPr>
            <a:endParaRPr lang="en-GB"/>
          </a:p>
          <a:p>
            <a:pPr marL="0" indent="0">
              <a:spcAft>
                <a:spcPts val="500"/>
              </a:spcAft>
              <a:buNone/>
              <a:defRPr sz="1800">
                <a:latin typeface="Calibri"/>
              </a:defRPr>
            </a:pPr>
            <a:r>
              <a:rPr lang="en-GB" b="1"/>
              <a:t>2. Interdisciplinary Learning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800">
                <a:latin typeface="Calibri"/>
              </a:defRPr>
            </a:pPr>
            <a:r>
              <a:rPr lang="en-GB"/>
              <a:t>Engineering Design: Prototyping and system modelling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800">
                <a:latin typeface="Calibri"/>
              </a:defRPr>
            </a:pPr>
            <a:r>
              <a:rPr lang="en-GB"/>
              <a:t>Software: Control logic and algorithm development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800">
                <a:latin typeface="Calibri"/>
              </a:defRPr>
            </a:pPr>
            <a:r>
              <a:rPr lang="en-GB"/>
              <a:t>Hardware: Sensor integration and circuit implementation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800">
                <a:latin typeface="Calibri"/>
              </a:defRPr>
            </a:pPr>
            <a:r>
              <a:rPr lang="en-GB"/>
              <a:t>Systems Engineering: System design (SysML diagrams), requirements, testing</a:t>
            </a:r>
          </a:p>
          <a:p>
            <a:pPr>
              <a:spcAft>
                <a:spcPts val="500"/>
              </a:spcAft>
              <a:defRPr sz="1800">
                <a:latin typeface="Calibri"/>
              </a:defRPr>
            </a:pPr>
            <a:endParaRPr lang="en-GB"/>
          </a:p>
          <a:p>
            <a:pPr marL="0" indent="0">
              <a:spcAft>
                <a:spcPts val="500"/>
              </a:spcAft>
              <a:buNone/>
              <a:defRPr sz="1800">
                <a:latin typeface="Calibri"/>
              </a:defRPr>
            </a:pPr>
            <a:r>
              <a:rPr lang="en-GB" b="1"/>
              <a:t>3. Engineering Creativity</a:t>
            </a:r>
          </a:p>
          <a:p>
            <a:pPr marL="285750" indent="-285750">
              <a:spcAft>
                <a:spcPts val="500"/>
              </a:spcAft>
              <a:buFont typeface="Wingdings" pitchFamily="2" charset="2"/>
              <a:buChar char="Ø"/>
              <a:defRPr sz="1800">
                <a:latin typeface="Calibri"/>
              </a:defRPr>
            </a:pPr>
            <a:r>
              <a:rPr lang="en-GB"/>
              <a:t>Handling vehicle behaviour under hardware constraints: speed control, sensor calibration, manoeuvring.</a:t>
            </a:r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8BF8-8E4C-1057-E7C8-B1645925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1CE3-571A-6FA7-324C-F414B485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42098"/>
          </a:xfrm>
        </p:spPr>
        <p:txBody>
          <a:bodyPr>
            <a:normAutofit/>
          </a:bodyPr>
          <a:lstStyle/>
          <a:p>
            <a:r>
              <a:rPr lang="en-GB" dirty="0"/>
              <a:t>Initially designed State Machine</a:t>
            </a:r>
            <a:endParaRPr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F9AE27C-D3BF-3FD2-A12E-036C5794B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43" t="4123" b="-485"/>
          <a:stretch>
            <a:fillRect/>
          </a:stretch>
        </p:blipFill>
        <p:spPr>
          <a:xfrm>
            <a:off x="1292352" y="1145273"/>
            <a:ext cx="6388608" cy="54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43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D0D2-BD2B-4712-2D58-7ACB6B89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Initially designed State Machine</a:t>
            </a:r>
            <a:endParaRPr lang="en-D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082DBD-6510-9416-F2C1-6EC523635C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8443" y="1600200"/>
            <a:ext cx="3556113" cy="4525963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0A01A38-3AB9-8B3F-371F-7AC1A92F6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5456" y="1600200"/>
            <a:ext cx="4271344" cy="4525963"/>
          </a:xfrm>
        </p:spPr>
        <p:txBody>
          <a:bodyPr/>
          <a:lstStyle/>
          <a:p>
            <a:pPr marL="0" indent="0">
              <a:buNone/>
            </a:pPr>
            <a:br>
              <a:rPr lang="en-DE" dirty="0"/>
            </a:br>
            <a:endParaRPr lang="en-DE" dirty="0"/>
          </a:p>
        </p:txBody>
      </p:sp>
      <p:pic>
        <p:nvPicPr>
          <p:cNvPr id="17" name="Content Placeholder 12">
            <a:extLst>
              <a:ext uri="{FF2B5EF4-FFF2-40B4-BE49-F238E27FC236}">
                <a16:creationId xmlns:a16="http://schemas.microsoft.com/office/drawing/2014/main" id="{752B8AB9-BF81-E4D9-D23C-ACF5CD845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456" y="1600200"/>
            <a:ext cx="4271344" cy="231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21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CF50-511C-D203-0CE1-5619CB78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1E96-85DF-7C17-D214-87E2CD397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Initially designed State Machine</a:t>
            </a:r>
            <a:endParaRPr lang="en-DE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301E5DB-BA0A-2219-5B9E-4BAD3BB55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5456" y="1600200"/>
            <a:ext cx="4271344" cy="4525963"/>
          </a:xfrm>
        </p:spPr>
        <p:txBody>
          <a:bodyPr/>
          <a:lstStyle/>
          <a:p>
            <a:pPr marL="0" indent="0">
              <a:buNone/>
            </a:pPr>
            <a:br>
              <a:rPr lang="en-DE" dirty="0"/>
            </a:br>
            <a:endParaRPr lang="en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C870E1-EC1B-45D9-620B-DED1ABF5FF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607812"/>
            <a:ext cx="4038600" cy="4510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846409-DF24-7AD0-FB5A-B1D15F055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770" y="1607812"/>
            <a:ext cx="3915030" cy="451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EA84-4D1A-F594-AE19-3548814E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91A2-D9B2-9F24-59DB-4FED51BC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42098"/>
          </a:xfrm>
        </p:spPr>
        <p:txBody>
          <a:bodyPr>
            <a:normAutofit/>
          </a:bodyPr>
          <a:lstStyle/>
          <a:p>
            <a:r>
              <a:rPr lang="en-GB" dirty="0"/>
              <a:t>Updated State Machine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934041-DAE2-87D5-D6C9-6D4E0D9EC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717" y="1134458"/>
            <a:ext cx="4712565" cy="5448904"/>
          </a:xfrm>
        </p:spPr>
      </p:pic>
    </p:spTree>
    <p:extLst>
      <p:ext uri="{BB962C8B-B14F-4D97-AF65-F5344CB8AC3E}">
        <p14:creationId xmlns:p14="http://schemas.microsoft.com/office/powerpoint/2010/main" val="29364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DE46-D66D-4CBA-B0F0-2FAF10D1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63B0E-D31C-A56B-6582-A72D1F6BD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Updated State Machine</a:t>
            </a:r>
            <a:endParaRPr lang="en-DE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A770986-E5D7-C822-9CD4-15180327C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99054"/>
            <a:ext cx="4271344" cy="4525963"/>
          </a:xfrm>
        </p:spPr>
        <p:txBody>
          <a:bodyPr/>
          <a:lstStyle/>
          <a:p>
            <a:pPr marL="0" indent="0">
              <a:buNone/>
            </a:pPr>
            <a:br>
              <a:rPr lang="en-DE" dirty="0"/>
            </a:br>
            <a:endParaRPr lang="en-D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F6D86E-25A5-BD9A-5012-0BD1828BFF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699054"/>
            <a:ext cx="4038600" cy="4064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447CB0-3A9F-E89B-01DF-44D636194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699054"/>
            <a:ext cx="4271343" cy="301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4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A356-CBAE-6B60-CB48-069FC951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C8EE-D829-2C12-7234-56575CE39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Updated State Machine</a:t>
            </a:r>
            <a:endParaRPr lang="en-DE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E6654EA-C65E-985C-974A-E732CD5C4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99054"/>
            <a:ext cx="4271344" cy="4525963"/>
          </a:xfrm>
        </p:spPr>
        <p:txBody>
          <a:bodyPr/>
          <a:lstStyle/>
          <a:p>
            <a:pPr marL="0" indent="0">
              <a:buNone/>
            </a:pPr>
            <a:br>
              <a:rPr lang="en-DE" dirty="0"/>
            </a:br>
            <a:endParaRPr lang="en-D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8AFFCB-4070-D76C-B10F-3CB62202C9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621039"/>
            <a:ext cx="4038600" cy="4484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3D6809-280D-A5E6-2D24-8E32D2790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93" y="1621039"/>
            <a:ext cx="3848357" cy="448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7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8EAD8-1C28-CB05-398D-86D3D483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8ECE-66CB-5F7D-1E40-CC592E98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86812"/>
            <a:ext cx="8229600" cy="1143000"/>
          </a:xfrm>
        </p:spPr>
        <p:txBody>
          <a:bodyPr/>
          <a:lstStyle/>
          <a:p>
            <a:r>
              <a:rPr dirty="0"/>
              <a:t>Challenges</a:t>
            </a:r>
            <a:r>
              <a:rPr lang="de-DE" dirty="0"/>
              <a:t> </a:t>
            </a:r>
            <a:r>
              <a:rPr lang="en-GB" dirty="0"/>
              <a:t>&amp; Solutions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4841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6F85-5258-8A88-0F5E-FBDECA2B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FADF-6456-D58A-21A6-F779E55D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Mechanical Fit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9C59-1E2E-9F6E-A5E2-58B54CFD7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Challenge:</a:t>
            </a:r>
          </a:p>
          <a:p>
            <a:pPr marL="0" indent="0">
              <a:buNone/>
            </a:pPr>
            <a:endParaRPr lang="en-GB" sz="3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Initial 3D-printed parts were designed to precise dimensions and were designed quite thin to meet time constraint for printing.</a:t>
            </a:r>
          </a:p>
          <a:p>
            <a:pPr>
              <a:buFont typeface="Courier New" panose="02070309020205020404" pitchFamily="49" charset="0"/>
              <a:buChar char="o"/>
            </a:pPr>
            <a:endParaRPr lang="en-GB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GB" sz="2400" dirty="0"/>
              <a:t>After printing testing these parts on the actual hardware they did not fit well due to real-world imperfections and printer tolerances.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7937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C7C41-36F3-8F02-EBC4-CE006C63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5F99-65C2-C9F5-8401-DA50DEDA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Mechanical Fit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8743-8F8A-5DC5-A718-44E099C2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 Solution: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Wingdings" pitchFamily="2" charset="2"/>
              <a:buChar char="ü"/>
            </a:pPr>
            <a:r>
              <a:rPr lang="en-GB" sz="2600" dirty="0"/>
              <a:t>Redesigned the parts to be thicker, less rigid, and more adaptable.</a:t>
            </a:r>
          </a:p>
          <a:p>
            <a:pPr>
              <a:buFont typeface="Wingdings" pitchFamily="2" charset="2"/>
              <a:buChar char="ü"/>
            </a:pPr>
            <a:endParaRPr lang="en-GB" sz="2600" dirty="0"/>
          </a:p>
          <a:p>
            <a:pPr>
              <a:buFont typeface="Wingdings" pitchFamily="2" charset="2"/>
              <a:buChar char="ü"/>
            </a:pPr>
            <a:r>
              <a:rPr lang="en-GB" sz="2600" dirty="0"/>
              <a:t>Included tolerances and features that could let us to modify and fine-tune the parts after the printing with simple tools (cutters, files, extra screws and washers).</a:t>
            </a:r>
            <a:endParaRPr sz="2600" dirty="0"/>
          </a:p>
        </p:txBody>
      </p:sp>
    </p:spTree>
    <p:extLst>
      <p:ext uri="{BB962C8B-B14F-4D97-AF65-F5344CB8AC3E}">
        <p14:creationId xmlns:p14="http://schemas.microsoft.com/office/powerpoint/2010/main" val="1484507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30DD-88DC-67BF-88D7-40B4B7E2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B935-D635-3A99-96F4-9A81B7623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Wiring Management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B2232-1B90-47E9-1182-FAE3CCDC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Challenge:</a:t>
            </a:r>
          </a:p>
          <a:p>
            <a:pPr marL="0" indent="0">
              <a:buNone/>
            </a:pPr>
            <a:endParaRPr lang="en-GB" sz="3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The initial wiring was disorganized, with excessively long cables.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GB" sz="24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This created a "messy" look and posed a functional risk, as wires could snag on moving parts or the environment, interrupting the vehicle's movement.</a:t>
            </a:r>
            <a:endParaRPr lang="en-GB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581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6353-EB04-4EDE-ED9C-3DF712FD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58DA-EA4E-AB43-EA09-41B32F9F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Wiring Management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2817-06EF-33F1-F0F4-98C290ED7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33727"/>
            <a:ext cx="4114800" cy="4492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Solution: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itchFamily="2" charset="2"/>
              <a:buChar char="ü"/>
            </a:pPr>
            <a:r>
              <a:rPr lang="en-GB" sz="2400" dirty="0"/>
              <a:t>Implemented a wire management strategy using wire clips and duct tape for a secure and neat fit </a:t>
            </a:r>
          </a:p>
          <a:p>
            <a:pPr marL="0" indent="0">
              <a:buNone/>
            </a:pPr>
            <a:endParaRPr lang="en-GB" sz="2400" dirty="0"/>
          </a:p>
          <a:p>
            <a:pPr>
              <a:buFont typeface="Wingdings" pitchFamily="2" charset="2"/>
              <a:buChar char="ü"/>
            </a:pPr>
            <a:r>
              <a:rPr lang="en-GB" sz="2400" dirty="0"/>
              <a:t>This kept the wiring contained, orderly, and clear of any moving components.</a:t>
            </a:r>
          </a:p>
          <a:p>
            <a:pPr marL="0" indent="0">
              <a:buNone/>
            </a:pPr>
            <a:endParaRPr sz="24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AE95B97-1AA8-A3BF-3FED-3D9FDE6D08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b="2965"/>
          <a:stretch>
            <a:fillRect/>
          </a:stretch>
        </p:blipFill>
        <p:spPr>
          <a:xfrm>
            <a:off x="5178882" y="1634558"/>
            <a:ext cx="2892222" cy="4266370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2AFFBA-0BD4-F7AA-28D8-621A7CE2DAA0}"/>
              </a:ext>
            </a:extLst>
          </p:cNvPr>
          <p:cNvSpPr txBox="1">
            <a:spLocks/>
          </p:cNvSpPr>
          <p:nvPr/>
        </p:nvSpPr>
        <p:spPr>
          <a:xfrm>
            <a:off x="5295069" y="1417637"/>
            <a:ext cx="4529328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GB" sz="3000" b="1" dirty="0"/>
          </a:p>
        </p:txBody>
      </p:sp>
    </p:spTree>
    <p:extLst>
      <p:ext uri="{BB962C8B-B14F-4D97-AF65-F5344CB8AC3E}">
        <p14:creationId xmlns:p14="http://schemas.microsoft.com/office/powerpoint/2010/main" val="438420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8B77-2C59-DE4E-C7E6-5D93BD072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F22D-70EB-0C3C-3D64-5BC640C4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 Distribution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EDE7B-953B-1CF2-39D5-CE778342E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Challenge:</a:t>
            </a:r>
          </a:p>
          <a:p>
            <a:pPr marL="0" indent="0">
              <a:buNone/>
            </a:pPr>
            <a:endParaRPr lang="en-GB" sz="3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In the construction, the battery was placed at the front of the vehicle for easy access.</a:t>
            </a:r>
          </a:p>
          <a:p>
            <a:pPr algn="just">
              <a:buFont typeface="Courier New" panose="02070309020205020404" pitchFamily="49" charset="0"/>
              <a:buChar char="o"/>
            </a:pPr>
            <a:endParaRPr lang="en-GB" sz="24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During testing, this caused a critical imbalance, preventing the wheels from gaining proper traction. The vehicle struggled to move correctly.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96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F78B-77D8-E8C7-2BA7-286F59359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A11D3-F20F-A33E-1D24-0BF06F005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 Distribution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72DF3-E266-75F5-D566-15650BDA7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33727"/>
            <a:ext cx="4114800" cy="4492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Solution: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itchFamily="2" charset="2"/>
              <a:buChar char="ü"/>
            </a:pPr>
            <a:r>
              <a:rPr lang="en-GB" sz="2400" dirty="0"/>
              <a:t>Instead of a redesign, we added heavy bolts to the rear of the chassis to act as counterweights.</a:t>
            </a:r>
          </a:p>
          <a:p>
            <a:pPr>
              <a:buFont typeface="Wingdings" pitchFamily="2" charset="2"/>
              <a:buChar char="ü"/>
            </a:pPr>
            <a:endParaRPr lang="en-GB" sz="2400" dirty="0"/>
          </a:p>
          <a:p>
            <a:pPr>
              <a:buFont typeface="Wingdings" pitchFamily="2" charset="2"/>
              <a:buChar char="ü"/>
            </a:pPr>
            <a:r>
              <a:rPr lang="en-GB" sz="2400" dirty="0"/>
              <a:t>This balanced the weight distribution, allowing the wheels to function properly.</a:t>
            </a:r>
            <a:endParaRPr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10DF9EA-75FE-F086-6CC5-7D02846AE376}"/>
              </a:ext>
            </a:extLst>
          </p:cNvPr>
          <p:cNvSpPr txBox="1">
            <a:spLocks/>
          </p:cNvSpPr>
          <p:nvPr/>
        </p:nvSpPr>
        <p:spPr>
          <a:xfrm>
            <a:off x="5295069" y="1417637"/>
            <a:ext cx="4529328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GB" sz="3000" b="1" dirty="0"/>
          </a:p>
        </p:txBody>
      </p:sp>
    </p:spTree>
    <p:extLst>
      <p:ext uri="{BB962C8B-B14F-4D97-AF65-F5344CB8AC3E}">
        <p14:creationId xmlns:p14="http://schemas.microsoft.com/office/powerpoint/2010/main" val="2722545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D719-6DD3-1E14-69DD-BBEB9502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4DCA-CE06-2FA6-5A9A-18CCB7D4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/>
              <a:t>IR Sensors Configuration</a:t>
            </a:r>
            <a:br>
              <a:rPr lang="en-GB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1D35-D8AC-D721-7CCD-E7894AB5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03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Challenge:</a:t>
            </a:r>
            <a:endParaRPr lang="en-GB" sz="3000" dirty="0"/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The physical distance between our two IR sensors was wider than the actual black line used on the track.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GB" sz="2400" dirty="0"/>
              <a:t>Code expected a LOW signal to indicate "line detected”. It caused incorrect logic and movement.</a:t>
            </a:r>
          </a:p>
          <a:p>
            <a:pPr marL="0" indent="0" algn="just">
              <a:buNone/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E30F4F-573B-7619-30F4-FD3BD6A6D1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03"/>
          <a:stretch>
            <a:fillRect/>
          </a:stretch>
        </p:blipFill>
        <p:spPr>
          <a:xfrm>
            <a:off x="881717" y="3951733"/>
            <a:ext cx="7380565" cy="186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79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8DEE8-F214-C3C6-EA58-EFB3D93A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4454-F5DD-56B0-58B9-ABBFB324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IR Sensors Configuration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700D5-7455-418C-6053-3C069BE4E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Solution:</a:t>
            </a:r>
            <a:endParaRPr lang="en-GB" sz="3000" dirty="0"/>
          </a:p>
          <a:p>
            <a:pPr>
              <a:buFont typeface="Wingdings" pitchFamily="2" charset="2"/>
              <a:buChar char="ü"/>
            </a:pPr>
            <a:r>
              <a:rPr lang="en-GB" sz="2600" dirty="0"/>
              <a:t>Adjusted the Code, inverting the line detection to HIGH instead of LOW without changing sensor mounting or wiring.</a:t>
            </a:r>
          </a:p>
          <a:p>
            <a:pPr>
              <a:buFont typeface="Wingdings" pitchFamily="2" charset="2"/>
              <a:buChar char="ü"/>
            </a:pPr>
            <a:r>
              <a:rPr lang="en-GB" sz="2600" dirty="0"/>
              <a:t>It allowed existing sensor spacing and track design to function perfectly, with reliable line tracking.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014255-A7E8-95C9-CDAB-3DE130DA3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78" y="4360164"/>
            <a:ext cx="7556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91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6022-AD99-4A65-5E29-804B8136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8D8E-325B-D428-49CB-74A9CE94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Ultrasonic Configuration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9469A-C4B6-CFEE-E8FA-57DE14177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Challenge :</a:t>
            </a:r>
            <a:endParaRPr lang="en-GB" sz="30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GB" sz="2600" dirty="0"/>
              <a:t>The ultrasonic sensor was initially configured to detect only maximum distance (e.g.&lt; 20 cm), without initialization of min range.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C888EB-189E-7ADB-CB08-02B5CFED0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50" y="4015994"/>
            <a:ext cx="75565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99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E7E7-1E2B-5585-CF5B-AD147F95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D0EA-CD14-510A-8BBA-E344B9D0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Ultrasonic Configuration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BA708-828C-9BD8-06B3-A3E93B1F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000" b="1" dirty="0"/>
              <a:t>The Solution:</a:t>
            </a:r>
            <a:endParaRPr lang="en-GB" sz="3000" dirty="0"/>
          </a:p>
          <a:p>
            <a:pPr>
              <a:buFont typeface="Wingdings" pitchFamily="2" charset="2"/>
              <a:buChar char="ü"/>
            </a:pPr>
            <a:r>
              <a:rPr lang="en-GB" sz="2600" dirty="0"/>
              <a:t>Implemented echo validation to ensure ping response falls within a practical range between minimum and maximum distance (e.g. 3 cm and 20 cm).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4B60D-ACF3-2F7D-A592-412161FC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683000"/>
            <a:ext cx="75438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5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EA015-E370-ABA6-9209-812FE2D1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2B7B-D4DB-956D-064A-4D7D6D4C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b="1" dirty="0"/>
              <a:t>Conclusion &amp; Key Learnings</a:t>
            </a:r>
            <a:br>
              <a:rPr lang="en-GB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64FD-1534-DB09-7351-3EDF0F258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b="1" dirty="0"/>
              <a:t>Design for Imperfection:</a:t>
            </a:r>
            <a:r>
              <a:rPr lang="en-GB" sz="2800" dirty="0"/>
              <a:t> Real-world hardware requires more tolerance and adjustability than CAD models suggest.</a:t>
            </a:r>
          </a:p>
          <a:p>
            <a:r>
              <a:rPr lang="en-GB" sz="2800" b="1" dirty="0"/>
              <a:t>Adaptability is Key:</a:t>
            </a:r>
            <a:r>
              <a:rPr lang="en-GB" sz="2800" dirty="0"/>
              <a:t> Being able to solve problems with code (like the sensor logic) can be faster and more efficient than making physical changes.</a:t>
            </a:r>
          </a:p>
          <a:p>
            <a:r>
              <a:rPr lang="en-GB" sz="2800" b="1" dirty="0"/>
              <a:t>Iterative Testing is Crucial:</a:t>
            </a:r>
            <a:r>
              <a:rPr lang="en-GB" sz="2800" dirty="0"/>
              <a:t> The most effective solutions were found through constant testing, observation, and incremental adjustments to both hardware and software.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7763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you!</a:t>
            </a:r>
          </a:p>
          <a:p>
            <a:r>
              <a:rPr dirty="0"/>
              <a:t>We’re happy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662</Words>
  <Application>Microsoft Macintosh PowerPoint</Application>
  <PresentationFormat>On-screen Show (4:3)</PresentationFormat>
  <Paragraphs>99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Office Theme</vt:lpstr>
      <vt:lpstr>Systems Engineering &amp; Prototyping</vt:lpstr>
      <vt:lpstr>Objective &amp; Hardware Components</vt:lpstr>
      <vt:lpstr>Motivation</vt:lpstr>
      <vt:lpstr>Initially designed State Machine</vt:lpstr>
      <vt:lpstr>Initially designed State Machine</vt:lpstr>
      <vt:lpstr>Initially designed State Machine</vt:lpstr>
      <vt:lpstr>Updated State Machine</vt:lpstr>
      <vt:lpstr>Updated State Machine</vt:lpstr>
      <vt:lpstr>Updated State Machine</vt:lpstr>
      <vt:lpstr>Challenges &amp; Solutions</vt:lpstr>
      <vt:lpstr>Mechanical Fit</vt:lpstr>
      <vt:lpstr>Mechanical Fit</vt:lpstr>
      <vt:lpstr>Wiring Management</vt:lpstr>
      <vt:lpstr>Wiring Management</vt:lpstr>
      <vt:lpstr>Weight Distribution</vt:lpstr>
      <vt:lpstr>Weight Distribution</vt:lpstr>
      <vt:lpstr> IR Sensors Configuration </vt:lpstr>
      <vt:lpstr>IR Sensors Configuration</vt:lpstr>
      <vt:lpstr>Ultrasonic Configuration</vt:lpstr>
      <vt:lpstr>Ultrasonic Configuration</vt:lpstr>
      <vt:lpstr> Conclusion &amp; Key Learnings 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Андрей Сысоев</dc:creator>
  <cp:keywords/>
  <dc:description>generated using python-pptx</dc:description>
  <cp:lastModifiedBy>Daria</cp:lastModifiedBy>
  <cp:revision>9</cp:revision>
  <dcterms:created xsi:type="dcterms:W3CDTF">2013-01-27T09:14:16Z</dcterms:created>
  <dcterms:modified xsi:type="dcterms:W3CDTF">2025-06-22T14:19:59Z</dcterms:modified>
  <cp:category/>
</cp:coreProperties>
</file>