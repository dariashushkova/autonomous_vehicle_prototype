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91" r:id="rId5"/>
    <p:sldId id="287" r:id="rId6"/>
    <p:sldId id="288" r:id="rId7"/>
    <p:sldId id="290" r:id="rId8"/>
    <p:sldId id="289" r:id="rId9"/>
    <p:sldId id="296" r:id="rId10"/>
    <p:sldId id="297" r:id="rId11"/>
    <p:sldId id="293" r:id="rId12"/>
    <p:sldId id="294" r:id="rId13"/>
    <p:sldId id="295" r:id="rId14"/>
    <p:sldId id="28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9"/>
  </p:normalViewPr>
  <p:slideViewPr>
    <p:cSldViewPr snapToGrid="0" snapToObjects="1">
      <p:cViewPr varScale="1">
        <p:scale>
          <a:sx n="105" d="100"/>
          <a:sy n="105" d="100"/>
        </p:scale>
        <p:origin x="17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4475" y="3120272"/>
            <a:ext cx="8229600" cy="1143000"/>
          </a:xfrm>
        </p:spPr>
        <p:txBody>
          <a:bodyPr/>
          <a:lstStyle/>
          <a:p>
            <a:r>
              <a:rPr lang="en-GB" b="1" dirty="0"/>
              <a:t>System</a:t>
            </a:r>
            <a:r>
              <a:rPr lang="en-GB" dirty="0"/>
              <a:t> </a:t>
            </a:r>
            <a:r>
              <a:rPr lang="en-GB" b="1" dirty="0"/>
              <a:t>Engineering</a:t>
            </a:r>
            <a:r>
              <a:rPr lang="en-GB" dirty="0"/>
              <a:t> </a:t>
            </a:r>
            <a:r>
              <a:rPr lang="en-GB" b="1" dirty="0"/>
              <a:t>&amp;</a:t>
            </a:r>
            <a:r>
              <a:rPr lang="en-GB" dirty="0"/>
              <a:t> </a:t>
            </a:r>
            <a:r>
              <a:rPr lang="en-GB" b="1" dirty="0"/>
              <a:t>Prototyping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F3B7A5-2D8A-75D7-38F9-D1025570E6D5}"/>
              </a:ext>
            </a:extLst>
          </p:cNvPr>
          <p:cNvSpPr txBox="1"/>
          <p:nvPr/>
        </p:nvSpPr>
        <p:spPr>
          <a:xfrm>
            <a:off x="2532886" y="632857"/>
            <a:ext cx="40727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Presented by: </a:t>
            </a:r>
          </a:p>
          <a:p>
            <a:pPr algn="ctr"/>
            <a:r>
              <a:rPr lang="en-GB" dirty="0"/>
              <a:t>Amer Mohamed Ahmed Mohamed Ali </a:t>
            </a:r>
          </a:p>
          <a:p>
            <a:pPr algn="ctr"/>
            <a:r>
              <a:rPr lang="en-GB" dirty="0"/>
              <a:t>Badhan Sadim Rahman </a:t>
            </a:r>
          </a:p>
          <a:p>
            <a:pPr algn="ctr"/>
            <a:r>
              <a:rPr lang="en-GB" dirty="0"/>
              <a:t>Shushkova Daria </a:t>
            </a:r>
          </a:p>
          <a:p>
            <a:pPr algn="ctr"/>
            <a:r>
              <a:rPr lang="en-GB" dirty="0"/>
              <a:t>Sysoev Andrey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3EDAC-7DC2-EA3C-1968-5A1FD483C2B8}"/>
              </a:ext>
            </a:extLst>
          </p:cNvPr>
          <p:cNvSpPr txBox="1"/>
          <p:nvPr/>
        </p:nvSpPr>
        <p:spPr>
          <a:xfrm>
            <a:off x="4407405" y="6416359"/>
            <a:ext cx="323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1</a:t>
            </a:r>
            <a:endParaRPr lang="en-DE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588" y="392113"/>
            <a:ext cx="8229600" cy="1143000"/>
          </a:xfrm>
        </p:spPr>
        <p:txBody>
          <a:bodyPr>
            <a:normAutofit/>
          </a:bodyPr>
          <a:lstStyle/>
          <a:p>
            <a:r>
              <a:rPr lang="en-GB" dirty="0"/>
              <a:t>Objective &amp; </a:t>
            </a:r>
            <a:r>
              <a:rPr dirty="0"/>
              <a:t>Hardware Components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E5038-5215-D897-6F98-B824C5C276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138DE-4598-8C69-C00F-877AEACC8D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build</a:t>
            </a:r>
            <a:r>
              <a:rPr lang="de-DE" dirty="0"/>
              <a:t> an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:</a:t>
            </a:r>
          </a:p>
          <a:p>
            <a:r>
              <a:rPr lang="de-DE" dirty="0" err="1"/>
              <a:t>Follows</a:t>
            </a:r>
            <a:r>
              <a:rPr lang="de-DE" dirty="0"/>
              <a:t> a </a:t>
            </a:r>
            <a:r>
              <a:rPr lang="de-DE" dirty="0" err="1"/>
              <a:t>line</a:t>
            </a:r>
            <a:r>
              <a:rPr lang="de-DE" dirty="0"/>
              <a:t> (</a:t>
            </a:r>
            <a:r>
              <a:rPr lang="de-DE" dirty="0" err="1"/>
              <a:t>path</a:t>
            </a:r>
            <a:r>
              <a:rPr lang="de-DE" dirty="0"/>
              <a:t>)</a:t>
            </a:r>
          </a:p>
          <a:p>
            <a:r>
              <a:rPr lang="de-DE" dirty="0" err="1"/>
              <a:t>Detects</a:t>
            </a:r>
            <a:r>
              <a:rPr lang="de-DE" dirty="0"/>
              <a:t> and </a:t>
            </a:r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obstacles</a:t>
            </a:r>
            <a:r>
              <a:rPr lang="de-DE" dirty="0"/>
              <a:t> in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path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8FD6838-4B2D-4804-0D02-1D6334055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Components: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27B18E8-5F6A-545B-078B-9CE13D4D94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dirty="0"/>
              <a:t>IR Sensors</a:t>
            </a:r>
          </a:p>
          <a:p>
            <a:r>
              <a:rPr lang="de-DE" dirty="0" err="1"/>
              <a:t>Ultrasonic</a:t>
            </a:r>
            <a:r>
              <a:rPr lang="de-DE" dirty="0"/>
              <a:t> Sensors</a:t>
            </a:r>
          </a:p>
          <a:p>
            <a:r>
              <a:rPr lang="de-DE" dirty="0"/>
              <a:t>DC Motors</a:t>
            </a:r>
          </a:p>
          <a:p>
            <a:r>
              <a:rPr lang="de-DE" dirty="0"/>
              <a:t>Arduino + </a:t>
            </a:r>
            <a:r>
              <a:rPr lang="de-DE" dirty="0" err="1"/>
              <a:t>Battery</a:t>
            </a:r>
            <a:endParaRPr lang="de-DE" dirty="0"/>
          </a:p>
          <a:p>
            <a:r>
              <a:rPr lang="de-DE" dirty="0"/>
              <a:t>Motor Driver</a:t>
            </a:r>
          </a:p>
          <a:p>
            <a:pPr marL="0" indent="0">
              <a:buNone/>
            </a:pPr>
            <a:endParaRPr lang="en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 dirty="0"/>
              <a:t>1. Solving Real-World Problems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 dirty="0"/>
              <a:t>Simulating core autonomous </a:t>
            </a:r>
            <a:r>
              <a:rPr lang="en-GB" dirty="0" err="1"/>
              <a:t>behaviors</a:t>
            </a:r>
            <a:r>
              <a:rPr lang="en-GB" dirty="0"/>
              <a:t> like path planning and obstacle avoidance.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 dirty="0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 dirty="0"/>
              <a:t>2. Interdisciplinary Learning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 dirty="0"/>
              <a:t>Engineering Design: Prototyping and system </a:t>
            </a:r>
            <a:r>
              <a:rPr lang="en-GB" dirty="0" err="1"/>
              <a:t>modeling</a:t>
            </a:r>
            <a:endParaRPr lang="en-GB" dirty="0"/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 dirty="0"/>
              <a:t>Software: Control logic and algorithm development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 dirty="0"/>
              <a:t>Hardware: Sensor integration and circuit implementation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 dirty="0"/>
              <a:t>Systems Engineering: System design (</a:t>
            </a:r>
            <a:r>
              <a:rPr lang="en-GB" dirty="0" err="1"/>
              <a:t>SysML</a:t>
            </a:r>
            <a:r>
              <a:rPr lang="en-GB" dirty="0"/>
              <a:t> diagrams), requirements, testing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 dirty="0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 dirty="0"/>
              <a:t>3. Engineering Creativity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 dirty="0"/>
              <a:t>Handling </a:t>
            </a:r>
            <a:r>
              <a:rPr lang="en-GB" dirty="0" err="1"/>
              <a:t>vechicle</a:t>
            </a:r>
            <a:r>
              <a:rPr lang="en-GB" dirty="0"/>
              <a:t> </a:t>
            </a:r>
            <a:r>
              <a:rPr lang="en-GB" dirty="0" err="1"/>
              <a:t>behavior</a:t>
            </a:r>
            <a:r>
              <a:rPr lang="en-GB" dirty="0"/>
              <a:t> under hardware constraints: speed control, sensor calibration, </a:t>
            </a:r>
            <a:r>
              <a:rPr lang="en-GB" dirty="0" err="1"/>
              <a:t>maneuvering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8EAD8-1C28-CB05-398D-86D3D483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B8ECE-66CB-5F7D-1E40-CC592E98F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86812"/>
            <a:ext cx="8229600" cy="1143000"/>
          </a:xfrm>
        </p:spPr>
        <p:txBody>
          <a:bodyPr/>
          <a:lstStyle/>
          <a:p>
            <a:r>
              <a:rPr dirty="0"/>
              <a:t>Challenges</a:t>
            </a:r>
            <a:r>
              <a:rPr lang="de-DE" dirty="0"/>
              <a:t> </a:t>
            </a:r>
            <a:r>
              <a:rPr lang="en-GB" dirty="0"/>
              <a:t>&amp; Solutions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4841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8BF8-8E4C-1057-E7C8-B1645925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D1CE3-571A-6FA7-324C-F414B4850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BDDFF-C5DE-DF3C-0A13-2131D5DC3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Initial 3D-printed parts were designed to precise dimensions and were designed quite thin to meet time constraint for printing.</a:t>
            </a:r>
          </a:p>
          <a:p>
            <a:pPr>
              <a:buFont typeface="Courier New" panose="02070309020205020404" pitchFamily="49" charset="0"/>
              <a:buChar char="o"/>
            </a:pPr>
            <a:endParaRPr lang="en-GB" sz="24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400" dirty="0"/>
              <a:t>After printing testing these parts on the actual hardware they did not fit well due to real-world imperfections and printer tolerances.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7843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C7C41-36F3-8F02-EBC4-CE006C63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D5F99-65C2-C9F5-8401-DA50DEDA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28743-8F8A-5DC5-A718-44E099C2C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Solution:</a:t>
            </a:r>
          </a:p>
          <a:p>
            <a:pPr marL="0" indent="0">
              <a:buNone/>
            </a:pPr>
            <a:endParaRPr lang="en-GB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Redesigned the parts to be thicker, less rigid, and more adaptable.</a:t>
            </a:r>
          </a:p>
          <a:p>
            <a:pPr>
              <a:buFont typeface="Wingdings" pitchFamily="2" charset="2"/>
              <a:buChar char="ü"/>
            </a:pPr>
            <a:endParaRPr lang="en-GB" sz="26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Included tolerances and features that could let us to modify and fine-tune the parts after the printing with simple tools (cutters, files, extra screws and washers).</a:t>
            </a:r>
            <a:endParaRPr sz="2600" dirty="0"/>
          </a:p>
        </p:txBody>
      </p:sp>
    </p:spTree>
    <p:extLst>
      <p:ext uri="{BB962C8B-B14F-4D97-AF65-F5344CB8AC3E}">
        <p14:creationId xmlns:p14="http://schemas.microsoft.com/office/powerpoint/2010/main" val="148450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230DD-88DC-67BF-88D7-40B4B7E2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B935-D635-3A99-96F4-9A81B762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B2232-1B90-47E9-1182-FAE3CCDC1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initial wiring was disorganized, with excessively long cables.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This created a "messy" look and posed a functional risk, as wires could snag on moving parts or the environment, interrupting the vehicle's movement.</a:t>
            </a: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5811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6353-EB04-4EDE-ED9C-3DF712FD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858DA-EA4E-AB43-EA09-41B32F9F0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2817-06EF-33F1-F0F4-98C290ED7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Implemented a wire management strategy using wire clips and duct tape for a secure and neat fit </a:t>
            </a:r>
          </a:p>
          <a:p>
            <a:pPr marL="0" indent="0">
              <a:buNone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kept the wiring contained, orderly, and clear of any moving components.</a:t>
            </a:r>
          </a:p>
          <a:p>
            <a:pPr marL="0" indent="0">
              <a:buNone/>
            </a:pPr>
            <a:endParaRPr sz="24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AE95B97-1AA8-A3BF-3FED-3D9FDE6D08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965"/>
          <a:stretch>
            <a:fillRect/>
          </a:stretch>
        </p:blipFill>
        <p:spPr>
          <a:xfrm>
            <a:off x="5178882" y="1634558"/>
            <a:ext cx="2892222" cy="4266370"/>
          </a:xfr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E2AFFBA-0BD4-F7AA-28D8-621A7CE2DAA0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438420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D8B77-2C59-DE4E-C7E6-5D93BD072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F22D-70EB-0C3C-3D64-5BC640C46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EDE7B-953B-1CF2-39D5-CE778342E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 the construction, the battery is placed at the front of the vehicle for easy access.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During testing, this caused a critical imbalance, preventing the wheels from gaining proper traction. The vehicle struggled to move correctly.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96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F78B-77D8-E8C7-2BA7-286F5935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A11D3-F20F-A33E-1D24-0BF06F005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72DF3-E266-75F5-D566-15650BDA7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Instead of a redesign, we added heavy bolts to the rear of the chassis to act as counterweights.</a:t>
            </a:r>
          </a:p>
          <a:p>
            <a:pPr>
              <a:buFont typeface="Wingdings" pitchFamily="2" charset="2"/>
              <a:buChar char="ü"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balanced the weight distribution, allowing the wheels to function properly.</a:t>
            </a:r>
            <a:endParaRPr sz="2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10DF9EA-75FE-F086-6CC5-7D02846AE376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9A7BAE-EC94-947B-EA1F-97B4D894B7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33727"/>
            <a:ext cx="4038600" cy="4492436"/>
          </a:xfrm>
        </p:spPr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22545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D719-6DD3-1E14-69DD-BBEB95022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4DCA-CE06-2FA6-5A9A-18CCB7D49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dirty="0"/>
              <a:t>IR Sensors Configuration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D35-D8AC-D721-7CCD-E7894AB57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030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physical distance between our two IR sensors was wider than the actual black line used on the track.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Code expected a LOW signal to indicate "line detected”. It caused incorrect logic and movement.</a:t>
            </a:r>
          </a:p>
          <a:p>
            <a:pPr marL="0" indent="0" algn="just">
              <a:buNone/>
            </a:pP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E30F4F-573B-7619-30F4-FD3BD6A6D1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03"/>
          <a:stretch>
            <a:fillRect/>
          </a:stretch>
        </p:blipFill>
        <p:spPr>
          <a:xfrm>
            <a:off x="881717" y="4439709"/>
            <a:ext cx="7380565" cy="186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794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8DEE8-F214-C3C6-EA58-EFB3D93A5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4454-F5DD-56B0-58B9-ABBFB324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Theory to Reality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700D5-7455-418C-6053-3C069BE4E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Adjusted the Code, inverting the line detection to HIGH instead of LOW without changing sensor mounting or wiring.</a:t>
            </a:r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It allowed existing sensor spacing and track design to function perfectly, with reliable line tracking.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B07A39-4227-3958-8532-AF1314339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628" y="4523232"/>
            <a:ext cx="7500743" cy="1602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391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EA015-E370-ABA6-9209-812FE2D1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C2B7B-D4DB-956D-064A-4D7D6D4CA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b="1" dirty="0"/>
              <a:t>Conclusion &amp; Key Learnings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264FD-1534-DB09-7351-3EDF0F25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2800" b="1" dirty="0"/>
              <a:t>Design for Imperfection:</a:t>
            </a:r>
            <a:r>
              <a:rPr lang="en-GB" sz="2800" dirty="0"/>
              <a:t> Real-world hardware requires more tolerance and adjustability than CAD models suggest.</a:t>
            </a:r>
          </a:p>
          <a:p>
            <a:r>
              <a:rPr lang="en-GB" sz="2800" b="1" dirty="0"/>
              <a:t>Adaptability is Key:</a:t>
            </a:r>
            <a:r>
              <a:rPr lang="en-GB" sz="2800" dirty="0"/>
              <a:t> Being able to solve problems with code (like the sensor logic) can be faster and more efficient than making physical changes.</a:t>
            </a:r>
          </a:p>
          <a:p>
            <a:r>
              <a:rPr lang="en-GB" sz="2800" b="1" dirty="0"/>
              <a:t>Iterative Testing is Crucial:</a:t>
            </a:r>
            <a:r>
              <a:rPr lang="en-GB" sz="2800" dirty="0"/>
              <a:t> The most effective solutions were found through constant testing, observation, and incremental adjustments to both hardware and software.</a:t>
            </a:r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7763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Thank you!</a:t>
            </a:r>
          </a:p>
          <a:p>
            <a:r>
              <a:rPr dirty="0"/>
              <a:t>We’re happy to answer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677</TotalTime>
  <Words>577</Words>
  <Application>Microsoft Macintosh PowerPoint</Application>
  <PresentationFormat>On-screen Show (4:3)</PresentationFormat>
  <Paragraphs>83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Courier New</vt:lpstr>
      <vt:lpstr>Wingdings</vt:lpstr>
      <vt:lpstr>Office Theme</vt:lpstr>
      <vt:lpstr>System Engineering &amp; Prototyping</vt:lpstr>
      <vt:lpstr>Objective &amp; Hardware Components</vt:lpstr>
      <vt:lpstr>Motivation</vt:lpstr>
      <vt:lpstr>Challenges &amp; Solutions</vt:lpstr>
      <vt:lpstr>Mechanical Fit</vt:lpstr>
      <vt:lpstr>Mechanical Fit</vt:lpstr>
      <vt:lpstr>Wiring Management</vt:lpstr>
      <vt:lpstr>Wiring Management</vt:lpstr>
      <vt:lpstr>Weight Distribution</vt:lpstr>
      <vt:lpstr>Weight Distribution</vt:lpstr>
      <vt:lpstr> IR Sensors Configuration </vt:lpstr>
      <vt:lpstr>From Theory to Reality</vt:lpstr>
      <vt:lpstr> Conclusion &amp; Key Learnings 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Daria</cp:lastModifiedBy>
  <cp:revision>2</cp:revision>
  <dcterms:created xsi:type="dcterms:W3CDTF">2013-01-27T09:14:16Z</dcterms:created>
  <dcterms:modified xsi:type="dcterms:W3CDTF">2025-06-19T18:02:14Z</dcterms:modified>
  <cp:category/>
</cp:coreProperties>
</file>